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83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13027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Projet : Maintenance Prédictive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89227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Condition de la Valve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93790" y="482786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projet vise à construire un modèle de Machine Learning pour prédire la condition d'une valve (optimale ou non optimale) à chaque cycle de production, en utilisant des données de capteurs.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439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Contexte et Objectif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988820"/>
            <a:ext cx="7556421" cy="1385649"/>
          </a:xfrm>
          <a:prstGeom prst="roundRect">
            <a:avLst>
              <a:gd name="adj" fmla="val 1055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988820"/>
            <a:ext cx="121920" cy="1385649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2461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628924" y="275427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 d'essai hydraulique, surveillance de l'état d'une valve.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601283"/>
            <a:ext cx="7556421" cy="1748552"/>
          </a:xfrm>
          <a:prstGeom prst="roundRect">
            <a:avLst>
              <a:gd name="adj" fmla="val 836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601283"/>
            <a:ext cx="121920" cy="1748552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38585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Problème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628924" y="4366736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Prédire si la condition de la valve est optimale (100%) ou non optimale.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76649"/>
            <a:ext cx="7556421" cy="1748552"/>
          </a:xfrm>
          <a:prstGeom prst="roundRect">
            <a:avLst>
              <a:gd name="adj" fmla="val 836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576649"/>
            <a:ext cx="121920" cy="1748552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8339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Objectif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628924" y="634210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 modèle ML fiable et une application web pour faciliter son utilisation.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39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Données Disponibles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902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Fichiers de Données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67908"/>
            <a:ext cx="4205168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profile.txt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informations par cycle (valve, cooler, pump_leak, etc.).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Fichiers capteurs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PS1-PS6, FS1-FS2, TS1-TS4, VS1, CE, CP, SE, EPS1.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3093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Cible Binaire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5908230"/>
            <a:ext cx="4205168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valve optimale (100%)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non optimale (&lt; 100%)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176" y="2559963"/>
            <a:ext cx="5539740" cy="3627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59981" y="636304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des niveaux de condition de la valve (%).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5317"/>
            <a:ext cx="107614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Prétraitement et Extraction de Features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965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Processus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495437"/>
            <a:ext cx="420516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des fichiers texte et organisation par cycle.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de statistiques simples pour chaque capteur et cycle (moyenne, écart-type, min, max, percentiles).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 d'une matrice de caractéristiques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(lignes = cycles, colonnes = features).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886" y="3013234"/>
            <a:ext cx="5608320" cy="2720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5988725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Signaux bruts du capteur PS1 pour quelques cycles.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2251"/>
            <a:ext cx="101596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Stratégie de Validation et Corrélation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345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Découpage Temporel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033474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Apprentissage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2000 premiers cycles.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Final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cycles restants.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26321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découpage respecte un scénario réaliste de maintenance prédictive.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78940"/>
            <a:ext cx="342971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Dimensions des Données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5877825"/>
            <a:ext cx="4205168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(2000, 119),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(2000,)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52420"/>
            <a:ext cx="4205168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(205, 119),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(205,)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456" y="2201823"/>
            <a:ext cx="5631180" cy="4343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59981" y="672114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Matrice de corrélation (exemple de quelques features).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975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Modèles Testés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6764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067645"/>
            <a:ext cx="300811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Régression Logistique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644253" y="3575804"/>
            <a:ext cx="552914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de base, simple et interprétable, avec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06764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0676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Random Forest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307348" y="3575804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d'arbres ensemblistes, comparé à la régression logistique pour des performances accrues.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1814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181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Gradient Boosting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644253" y="562629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Autre modèle d'arbres, plus complexe, pour une comparaison approfondie.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118140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118140"/>
            <a:ext cx="449996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Optimisation d'Hyperparamètres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307348" y="5626298"/>
            <a:ext cx="552926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aléatoire (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RandomizedSearchCV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sur une Forêt Aléatoire pour affiner les performances.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111013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de la Régression Logistique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33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Matrice de Confusion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62193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[[114 18] [ 0 73]]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51910"/>
            <a:ext cx="34562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Rapport de Classification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450794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Précision (0): 1.000, Rappel (0): 0.864, F1 (0): 0.927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8067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Précision (1): 0.802, Rappel (1): 1.000, F1 (1): 0.890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310551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Accuracy: 0.912, ROC AUC: 0.998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06" y="2575203"/>
            <a:ext cx="4450080" cy="3596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59981" y="642699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Matrice de confusion normalisée.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71920"/>
            <a:ext cx="641092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Importance des Variables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767" y="2263140"/>
            <a:ext cx="5577840" cy="4183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95545"/>
            <a:ext cx="838033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15 features les plus importantes (régression logistique).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29299" y="2530316"/>
            <a:ext cx="30574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Analyse des Coefficients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629299" y="3065740"/>
            <a:ext cx="4277082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coefficients de la régression logistique révèlent l'influence de chaque feature sur la probabilité d'une valve optimale.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29299" y="4203025"/>
            <a:ext cx="4277082" cy="128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barres à droite de 0 augmentent la probabilité d'état optimal.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barres à gauche sont associées à un risque de non-optimalité.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29299" y="5661499"/>
            <a:ext cx="4277082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capteurs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FS1_std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PS2_std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PS2_mean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SE_max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SE_std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SE_mean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sont parmi les plus déterminants.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598" y="1072634"/>
            <a:ext cx="909732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Comparaison et Optimisation des Modèles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168598" y="2129552"/>
            <a:ext cx="235779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Accuracy des Modèles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68598" y="2579251"/>
            <a:ext cx="4020145" cy="1581864"/>
          </a:xfrm>
          <a:prstGeom prst="roundRect">
            <a:avLst>
              <a:gd name="adj" fmla="val 47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218" y="2586871"/>
            <a:ext cx="4004905" cy="6917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54455" y="2678430"/>
            <a:ext cx="164234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60658" y="2678430"/>
            <a:ext cx="164234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6218" y="3278624"/>
            <a:ext cx="4004905" cy="4374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54455" y="3370183"/>
            <a:ext cx="164234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0658" y="3370183"/>
            <a:ext cx="164234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0.834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76218" y="3716060"/>
            <a:ext cx="4004905" cy="4374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54455" y="3807619"/>
            <a:ext cx="164234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0658" y="3807619"/>
            <a:ext cx="164234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8598" y="4318516"/>
            <a:ext cx="310574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Optimisation Random Forest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8598" y="4750713"/>
            <a:ext cx="4020145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Meilleurs hyperparamètres trouvés: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8598" y="5130879"/>
            <a:ext cx="4020145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{'max_depth': 16, 'min_samples_leaf': 3, 'min_samples_split': 2, 'n_estimators': 199}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8598" y="5765363"/>
            <a:ext cx="4020145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Meilleur score ROC AUC (validation croisée): 0.913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8598" y="6399848"/>
            <a:ext cx="4020145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sur le jeu de test: Accuracy: 0.815, ROC AUC: 0.869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52" y="2024539"/>
            <a:ext cx="5539740" cy="45948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30942" y="6776799"/>
            <a:ext cx="7838480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Courbes ROC comparées des modèles.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591" y="640080"/>
            <a:ext cx="7072193" cy="7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et Perspectives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6254591" y="1679019"/>
            <a:ext cx="3697605" cy="3194566"/>
          </a:xfrm>
          <a:prstGeom prst="roundRect">
            <a:avLst>
              <a:gd name="adj" fmla="val 288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1643" y="1906072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2738" y="2087047"/>
            <a:ext cx="296228" cy="2962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1643" y="2776895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Pipeline Complet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6481643" y="3264456"/>
            <a:ext cx="3243501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place d'un pipeline de maintenance prédictive, de la donnée brute à l'application web.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0164604" y="1679019"/>
            <a:ext cx="3697605" cy="3194566"/>
          </a:xfrm>
          <a:prstGeom prst="roundRect">
            <a:avLst>
              <a:gd name="adj" fmla="val 288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91656" y="1906072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007EB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2750" y="2087047"/>
            <a:ext cx="296228" cy="2962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91656" y="2776895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Modèle Final Retenu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10391656" y="3264456"/>
            <a:ext cx="3243501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régression logistique offre le meilleur compromis performance, simplicité et interprétabilité.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360795" y="5790248"/>
            <a:ext cx="7607618" cy="2503527"/>
          </a:xfrm>
          <a:prstGeom prst="roundRect">
            <a:avLst>
              <a:gd name="adj" fmla="val 368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Shape 10"/>
          <p:cNvSpPr/>
          <p:nvPr/>
        </p:nvSpPr>
        <p:spPr>
          <a:xfrm>
            <a:off x="6481643" y="5313045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007EB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2738" y="5494020"/>
            <a:ext cx="296228" cy="2962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81643" y="6183868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Perspectives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2250" b="1" dirty="0">
              <a:solidFill>
                <a:srgbClr val="272525"/>
              </a:solidFill>
              <a:latin typeface="Petrona Bold" pitchFamily="34" charset="0"/>
              <a:ea typeface="Petrona Bold" pitchFamily="34" charset="-122"/>
            </a:endParaRPr>
          </a:p>
          <a:p>
            <a:pPr marL="0" indent="0" algn="l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18" name="Text 12"/>
          <p:cNvSpPr/>
          <p:nvPr/>
        </p:nvSpPr>
        <p:spPr>
          <a:xfrm>
            <a:off x="6481643" y="6671429"/>
            <a:ext cx="715351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E15B7342-3BBC-41B2-9C2B-1612EF01C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4113" y="6603148"/>
            <a:ext cx="431720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Modèle fiable et exploitable en industrie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Anticipation des défaillances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Réduction des coûts de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Aide à la décision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662</Words>
  <Application>Microsoft Office PowerPoint</Application>
  <PresentationFormat>Personnalisé</PresentationFormat>
  <Paragraphs>92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Petrona Bold</vt:lpstr>
      <vt:lpstr>Calibri</vt:lpstr>
      <vt:lpstr>Inter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Dell</cp:lastModifiedBy>
  <cp:revision>2</cp:revision>
  <dcterms:created xsi:type="dcterms:W3CDTF">2026-01-31T23:01:24Z</dcterms:created>
  <dcterms:modified xsi:type="dcterms:W3CDTF">2026-01-31T23:10:28Z</dcterms:modified>
</cp:coreProperties>
</file>